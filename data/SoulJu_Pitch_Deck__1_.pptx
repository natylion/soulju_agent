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84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SoulJu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Precision Nutraceuticals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371600" cy="27432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Saúde Feminina por Ciclos Metabólicos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Fevereiro 2026 ·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milhões de mulheres no Brasil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35–65 anos.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passarão por transições hormonais que afetam sono, energia, cognição, peso e pele por 10–15 anos.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2560320" cy="54864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aderem a nenhum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por &gt;3 meses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5603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474720" y="2560320"/>
            <a:ext cx="2560320" cy="54864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474720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3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dormem 6–8h: zona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cansaço funcional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5603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309360" y="2560320"/>
            <a:ext cx="256032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9224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com scoring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sistêmico + fases no BR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oferece dois extremos: TRH médica com estigma, ou suplementos genéricos sem personalização.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AA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DOS DADOS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 do sono feminino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ENERGÉTICO, não de stress.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NHANES-L · n=11.933 · Random Forest · 400 árvores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2176272"/>
            <a:ext cx="5029200" cy="18288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194560" y="2176272"/>
            <a:ext cx="5004054" cy="18288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35774" y="2103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2587752"/>
            <a:ext cx="5029200" cy="18288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194560" y="2587752"/>
            <a:ext cx="4350258" cy="182880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681978" y="2514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2999232"/>
            <a:ext cx="5029200" cy="18288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194560" y="2999232"/>
            <a:ext cx="4224528" cy="18288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556248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 (proxy)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94560" y="3410712"/>
            <a:ext cx="5029200" cy="18288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194560" y="3410712"/>
            <a:ext cx="4048506" cy="182880"/>
          </a:xfrm>
          <a:prstGeom prst="rect">
            <a:avLst/>
          </a:prstGeom>
          <a:solidFill>
            <a:srgbClr val="CE93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80226" y="3337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Inflamação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3822192"/>
            <a:ext cx="5029200" cy="18288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194560" y="3822192"/>
            <a:ext cx="3947922" cy="182880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79642" y="3749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Metabólico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94560" y="4233672"/>
            <a:ext cx="5029200" cy="18288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194560" y="4233672"/>
            <a:ext cx="3570732" cy="18288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902452" y="4160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7863840" cy="9144"/>
          </a:xfrm>
          <a:prstGeom prst="rect">
            <a:avLst/>
          </a:prstGeom>
          <a:solidFill>
            <a:srgbClr val="8B7AA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4008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Reset Fit Score para stress: apenas 2,5% (threshold: 18%). Energia domina ambos os modelos.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SoulJu é a primeira plataforma de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saúde feminina por ciclos metabólicos.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Eixos Metabólicos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Bioenergético, Proteico, Defesa, Regulação Sistêmica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Reais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NHANES n=11.933 + ML + K-Means k=3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Formulações por Camadas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produto atua em múltiplas camadas bioquímicas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33756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por Ciclos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dias numerados + fases + Recovery Mode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REAIS · NHANES K=3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651760" cy="54864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Guerreira Exausta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n=2.990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acordar com energia"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Stress 6.4 + Energia 6.0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2103120" cy="2743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Reset → Morning Glow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337560" y="777240"/>
            <a:ext cx="2651760" cy="54864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337560" y="960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9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5204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Transição Silenciosa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n=2.389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entender meu corpo"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Hormonal 7.7 + Pele 6.0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11880" y="3200400"/>
            <a:ext cx="2103120" cy="27432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52044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 Balance → Skin Glow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77724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217920" y="777240"/>
            <a:ext cx="2651760" cy="54864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217920" y="960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7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4008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Fogo Interno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n=2.112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me sentir bem na minha pele"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Pele 7.6 + Inflamação 7.4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92240" y="3200400"/>
            <a:ext cx="2103120" cy="27432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0080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Glow → Metabolic Reset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PRODUTO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Produtos · 4 Eixos · Sistema por Ciclos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solidFill>
            <a:srgbClr val="4A3075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54864" cy="41148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Reset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Glicina 3g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234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0" y="1234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737360"/>
            <a:ext cx="7863840" cy="411480"/>
          </a:xfrm>
          <a:prstGeom prst="rect">
            <a:avLst/>
          </a:prstGeom>
          <a:solidFill>
            <a:srgbClr val="4A3075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" y="1737360"/>
            <a:ext cx="54864" cy="411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Glow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Citicolina 250mg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Sachê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1737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M3–M9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1737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240280"/>
            <a:ext cx="7863840" cy="411480"/>
          </a:xfrm>
          <a:prstGeom prst="rect">
            <a:avLst/>
          </a:prstGeom>
          <a:solidFill>
            <a:srgbClr val="4A3075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" y="2240280"/>
            <a:ext cx="54864" cy="411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6868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 Fire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GlucoVantage®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240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solidFill>
            <a:srgbClr val="4A3075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40080" y="2743200"/>
            <a:ext cx="54864" cy="41148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6868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 GUT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3464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Glucomannan HV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743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2743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3232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246120"/>
            <a:ext cx="7863840" cy="411480"/>
          </a:xfrm>
          <a:prstGeom prst="rect">
            <a:avLst/>
          </a:prstGeom>
          <a:solidFill>
            <a:srgbClr val="4A3075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40080" y="3246120"/>
            <a:ext cx="54864" cy="4114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86868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 Sculpt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HMB 1.5g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246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3246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M6–M12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3749040"/>
            <a:ext cx="7863840" cy="411480"/>
          </a:xfrm>
          <a:prstGeom prst="rect">
            <a:avLst/>
          </a:prstGeom>
          <a:solidFill>
            <a:srgbClr val="4A3075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640080" y="3749040"/>
            <a:ext cx="54864" cy="411480"/>
          </a:xfrm>
          <a:prstGeom prst="rect">
            <a:avLst/>
          </a:prstGeom>
          <a:solidFill>
            <a:srgbClr val="CE93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6868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Glow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83464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Resveratrol 120mg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0" y="3749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Sachê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0" y="3749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M12–M24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32320" y="3749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solidFill>
            <a:srgbClr val="4A3075"/>
          </a:solidFill>
          <a:ln/>
          <a:effectLst>
            <a:outerShdw blurRad="254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640080" y="4251960"/>
            <a:ext cx="54864" cy="41148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86868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Glow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83464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CoQ10+PQQ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0" y="42519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43600" y="4251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M18+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32320" y="4251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HALO + BUNDLES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Jejum Inteligente Feminino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84048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👑 FEMME Lipidic Fire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Mitocondrial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Hero: GlucoVantage® (DihydroBerberine)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 AMPK → β-oxidação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estimulante · Fire celular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3840480" cy="54864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👑 FEMME GUT Axis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Intestino Hormonal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Hero: Glucomannan HV + L. gasseri 5B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↑GLP-1 ↑PYY ↓grelina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Saciedade hormonal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solidFill>
            <a:srgbClr val="2A1B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🔥 Bundle Metabolic Advanced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+ GUT + Night Reset · Ticket R$750–850 · Margem ~65%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criam Sistema de Jejum: ↓insulina → ↑lipólise → tolerância ao jejum → Fire atua melhor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SCORING 5 EIXOS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máximo do mercado: 8/15.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SoulJu projetado: 14/15.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(projetado)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4114800" cy="201168"/>
          </a:xfrm>
          <a:prstGeom prst="rect">
            <a:avLst/>
          </a:prstGeom>
          <a:solidFill>
            <a:srgbClr val="E8E0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3840480" cy="201168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609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 Fan Club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4114800" cy="201168"/>
          </a:xfrm>
          <a:prstGeom prst="rect">
            <a:avLst/>
          </a:prstGeom>
          <a:solidFill>
            <a:srgbClr val="E8E0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194560" cy="201168"/>
          </a:xfrm>
          <a:prstGeom prst="rect">
            <a:avLst/>
          </a:prstGeom>
          <a:solidFill>
            <a:srgbClr val="8B7AA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715000" y="2011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Menofit Plus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560320"/>
            <a:ext cx="4114800" cy="201168"/>
          </a:xfrm>
          <a:prstGeom prst="rect">
            <a:avLst/>
          </a:prstGeom>
          <a:solidFill>
            <a:srgbClr val="E8E0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383280" y="2560320"/>
            <a:ext cx="1920240" cy="201168"/>
          </a:xfrm>
          <a:prstGeom prst="rect">
            <a:avLst/>
          </a:prstGeom>
          <a:solidFill>
            <a:srgbClr val="8B7AA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440680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Positiv MENO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017520"/>
            <a:ext cx="4114800" cy="201168"/>
          </a:xfrm>
          <a:prstGeom prst="rect">
            <a:avLst/>
          </a:prstGeom>
          <a:solidFill>
            <a:srgbClr val="E8E0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383280" y="3017520"/>
            <a:ext cx="1645920" cy="201168"/>
          </a:xfrm>
          <a:prstGeom prst="rect">
            <a:avLst/>
          </a:prstGeom>
          <a:solidFill>
            <a:srgbClr val="8B7AA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16636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Drop Kit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474720"/>
            <a:ext cx="4114800" cy="201168"/>
          </a:xfrm>
          <a:prstGeom prst="rect">
            <a:avLst/>
          </a:prstGeom>
          <a:solidFill>
            <a:srgbClr val="E8E0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3383280" y="3474720"/>
            <a:ext cx="1645920" cy="201168"/>
          </a:xfrm>
          <a:prstGeom prst="rect">
            <a:avLst/>
          </a:prstGeom>
          <a:solidFill>
            <a:srgbClr val="8B7AA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166360" y="3383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Equelle (S-equol)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931920"/>
            <a:ext cx="4114800" cy="201168"/>
          </a:xfrm>
          <a:prstGeom prst="rect">
            <a:avLst/>
          </a:prstGeom>
          <a:solidFill>
            <a:srgbClr val="E8E0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383280" y="3931920"/>
            <a:ext cx="1371600" cy="201168"/>
          </a:xfrm>
          <a:prstGeom prst="rect">
            <a:avLst/>
          </a:prstGeom>
          <a:solidFill>
            <a:srgbClr val="8B7AA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89204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Aliv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4389120"/>
            <a:ext cx="4114800" cy="201168"/>
          </a:xfrm>
          <a:prstGeom prst="rect">
            <a:avLst/>
          </a:prstGeom>
          <a:solidFill>
            <a:srgbClr val="E8E0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383280" y="4389120"/>
            <a:ext cx="1097280" cy="201168"/>
          </a:xfrm>
          <a:prstGeom prst="rect">
            <a:avLst/>
          </a:prstGeom>
          <a:solidFill>
            <a:srgbClr val="8B7AA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617720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+ Inflamatório + Neuro/Sono + Microbiota + Metabólico · 19 SKUs · 10 marcas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Potencial de Mercado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1828800"/>
          </a:xfrm>
          <a:prstGeom prst="rect">
            <a:avLst/>
          </a:prstGeom>
          <a:solidFill>
            <a:srgbClr val="4A307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35–65 BR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965960" cy="1828800"/>
          </a:xfrm>
          <a:prstGeom prst="rect">
            <a:avLst/>
          </a:prstGeom>
          <a:solidFill>
            <a:srgbClr val="4A307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5176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premium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965960" cy="1828800"/>
          </a:xfrm>
          <a:prstGeom prst="rect">
            <a:avLst/>
          </a:prstGeom>
          <a:solidFill>
            <a:srgbClr val="4A307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Y2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assinantes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1371600"/>
            <a:ext cx="1965960" cy="1828800"/>
          </a:xfrm>
          <a:prstGeom prst="rect">
            <a:avLst/>
          </a:prstGeom>
          <a:solidFill>
            <a:srgbClr val="4A3075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04088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Y2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R$95M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4088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74720"/>
          <a:ext cx="786384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5995E"/>
                          </a:solidFill>
                        </a:rPr>
                        <a:t>Segmento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5995E"/>
                          </a:solidFill>
                        </a:rPr>
                        <a:t>LTV/ano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5995E"/>
                          </a:solidFill>
                        </a:rPr>
                        <a:t>Preço teto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BBE0"/>
                          </a:solidFill>
                        </a:rPr>
                        <a:t>Sono (Cluster 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R$ 2.200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R$ 180–220/mês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BBE0"/>
                          </a:solidFill>
                        </a:rPr>
                        <a:t>Hormonal (Cluster 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R$ 2.800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R$ 220–280/mês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BBE0"/>
                          </a:solidFill>
                        </a:rPr>
                        <a:t>Skin+Metabolic (exp.)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R$ 1.800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R$ 160–200/mês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DTC Premium + Assinatura por Ciclos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4864" cy="1325880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Assinatura 31 dias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Sticks numerados por fases. Ritual &gt; cápsula. Recorrência por design.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R$180–300/mês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54864" cy="1325880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8348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Bundles por eixo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bundles (R$600–1000) cobrindo os 4 eixos metabólicos.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médio: +65%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54864" cy="1325880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Margem DTC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hero R$4–9/dose. Preço DTC 3.2–3.8x. Margem bruta 65–70%.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2.500 assinantes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54864" cy="1325880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98348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+ Personalização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cluster biológico + dados de aderência → protocolo personalizado.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target: &lt;8%/mês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de Lançamento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188720" cy="731520"/>
          </a:xfrm>
          <a:prstGeom prst="rect">
            <a:avLst/>
          </a:prstGeom>
          <a:solidFill>
            <a:srgbClr val="2A1B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2344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beta users · NPS ≥60 · Aderência ≥55%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creators (Sábio + Fora da Lei + Acolhedor)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NPS, taxa conclusão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188720" cy="731520"/>
          </a:xfrm>
          <a:prstGeom prst="rect">
            <a:avLst/>
          </a:prstGeom>
          <a:solidFill>
            <a:srgbClr val="2A1B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M3–M6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DTC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148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DTC · Google+Meta Ads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assinantes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≤R$180 · LTV/CAC ≥3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1188720" cy="731520"/>
          </a:xfrm>
          <a:prstGeom prst="rect">
            <a:avLst/>
          </a:prstGeom>
          <a:solidFill>
            <a:srgbClr val="2A1B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M6–M12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3063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creators · Parceria médica funcional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 assinantes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3063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≤8% · MRR R$600k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1188720" cy="731520"/>
          </a:xfrm>
          <a:prstGeom prst="rect">
            <a:avLst/>
          </a:prstGeom>
          <a:solidFill>
            <a:srgbClr val="2A1B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3977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2 + Quiz IA + Dados proprietários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assinantes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977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R$22M · Seed Round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COMPETITIVA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SoulJu vence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5995E"/>
                          </a:solidFill>
                        </a:rPr>
                        <a:t>Dimensão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5995E"/>
                          </a:solidFill>
                        </a:rPr>
                        <a:t>Mercado Atual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5995E"/>
                          </a:solidFill>
                        </a:rPr>
                        <a:t>SoulJu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4BBE0"/>
                          </a:solidFill>
                        </a:rPr>
                        <a:t>Base de produto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7AAF"/>
                          </a:solidFill>
                        </a:rPr>
                        <a:t>Percepção / marketing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Dados NHANES (n=11.933) + ML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4BBE0"/>
                          </a:solidFill>
                        </a:rPr>
                        <a:t>Personalização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7AAF"/>
                          </a:solidFill>
                        </a:rPr>
                        <a:t>Zero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Cluster biológico + fase + quiz IA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4BBE0"/>
                          </a:solidFill>
                        </a:rPr>
                        <a:t>Formato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7AAF"/>
                          </a:solidFill>
                        </a:rPr>
                        <a:t>Cápsula genérica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Stick ritual numerado (31 dias)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4BBE0"/>
                          </a:solidFill>
                        </a:rPr>
                        <a:t>Aderência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7AAF"/>
                          </a:solidFill>
                        </a:rPr>
                        <a:t>Dropout &gt;67% em 3 meses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Fases + Recovery + comunidade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4BBE0"/>
                          </a:solidFill>
                        </a:rPr>
                        <a:t>Roadmap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7AAF"/>
                          </a:solidFill>
                        </a:rPr>
                        <a:t>Produto único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Plataforma: 7 produtos + módulos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4BBE0"/>
                          </a:solidFill>
                        </a:rPr>
                        <a:t>Defesa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7AAF"/>
                          </a:solidFill>
                        </a:rPr>
                        <a:t>Marca / distribuição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Dados + comunidade + protocolo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FINANCEIRA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R$3,85/stick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Night Reset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formula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3756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R$180–220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DTC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20848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/31 dias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21792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65–70%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0848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direto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R$180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Target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4564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≥3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6517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33756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R$2.200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3756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Médio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4564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65176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21792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4564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assinantes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59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buscamos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Pre-Seed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R$ 1,5M – 2,5M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meses de runway · Valuation pre-money a negociar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965960" cy="146304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P&amp;D + Formulação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977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Formulações hero + RCT piloto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3017520"/>
            <a:ext cx="1965960" cy="146304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651760" y="3108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788920" y="3657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GTM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977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+ ads + comunidade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3017520"/>
            <a:ext cx="1965960" cy="146304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46320" y="3108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983480" y="3657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+ 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977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personalização + dados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40880" y="3017520"/>
            <a:ext cx="1965960" cy="1463040"/>
          </a:xfrm>
          <a:prstGeom prst="rect">
            <a:avLst/>
          </a:prstGeom>
          <a:solidFill>
            <a:srgbClr val="4A3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040880" y="3108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78040" y="3657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78040" y="3977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+ logística + regulatório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7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SoulJu · Confidencial ·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SoulJu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371600" cy="27432"/>
          </a:xfrm>
          <a:prstGeom prst="rect">
            <a:avLst/>
          </a:prstGeom>
          <a:solidFill>
            <a:srgbClr val="C599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B7A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SoulJu não está competindo no mercado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B7A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suplementos.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SoulJu está criando o mercado de protocolos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59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restauração feminina por ciclos.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Essa categoria não existe. Agora existe.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Microsoft Office PowerPoint</Application>
  <PresentationFormat>On-screen Show (16:9)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SoulJu — Investor Pitch Deck</dc:title>
  <dc:subject>PptxGenJS Presentation</dc:subject>
  <dc:creator>SoulJu</dc:creator>
  <cp:lastModifiedBy>Natalia Lion</cp:lastModifiedBy>
  <cp:revision>1</cp:revision>
  <dcterms:created xsi:type="dcterms:W3CDTF">2026-03-12T19:21:01Z</dcterms:created>
  <dcterms:modified xsi:type="dcterms:W3CDTF">2026-03-12T19:24:02Z</dcterms:modified>
</cp:coreProperties>
</file>